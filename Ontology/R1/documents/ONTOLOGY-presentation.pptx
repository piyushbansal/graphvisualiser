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0" r:id="rId3"/>
    <p:sldId id="261" r:id="rId4"/>
    <p:sldId id="257" r:id="rId5"/>
    <p:sldId id="258" r:id="rId6"/>
    <p:sldId id="259" r:id="rId7"/>
    <p:sldId id="262" r:id="rId8"/>
    <p:sldId id="263" r:id="rId9"/>
    <p:sldId id="266" r:id="rId10"/>
    <p:sldId id="265" r:id="rId11"/>
    <p:sldId id="268" r:id="rId12"/>
    <p:sldId id="267" r:id="rId13"/>
    <p:sldId id="269"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EB08679-E2C4-4F79-B609-268D0190EC80}" type="datetimeFigureOut">
              <a:rPr lang="en-US" smtClean="0"/>
              <a:t>15-Oct-12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B08679-E2C4-4F79-B609-268D0190EC80}" type="datetimeFigureOut">
              <a:rPr lang="en-US" smtClean="0"/>
              <a:t>15-Oct-12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EB08679-E2C4-4F79-B609-268D0190EC80}" type="datetimeFigureOut">
              <a:rPr lang="en-US" smtClean="0"/>
              <a:t>15-Oct-12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EB08679-E2C4-4F79-B609-268D0190EC80}" type="datetimeFigureOut">
              <a:rPr lang="en-US" smtClean="0"/>
              <a:t>15-Oct-12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EB08679-E2C4-4F79-B609-268D0190EC80}" type="datetimeFigureOut">
              <a:rPr lang="en-US" smtClean="0"/>
              <a:t>15-Oct-12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EB08679-E2C4-4F79-B609-268D0190EC80}" type="datetimeFigureOut">
              <a:rPr lang="en-US" smtClean="0"/>
              <a:t>15-Oct-12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B08679-E2C4-4F79-B609-268D0190EC80}" type="datetimeFigureOut">
              <a:rPr lang="en-US" smtClean="0"/>
              <a:t>15-Oct-12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B08679-E2C4-4F79-B609-268D0190EC80}" type="datetimeFigureOut">
              <a:rPr lang="en-US" smtClean="0"/>
              <a:t>15-Oct-12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B08679-E2C4-4F79-B609-268D0190EC80}" type="datetimeFigureOut">
              <a:rPr lang="en-US" smtClean="0"/>
              <a:t>15-Oct-12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B08679-E2C4-4F79-B609-268D0190EC80}" type="datetimeFigureOut">
              <a:rPr lang="en-US" smtClean="0"/>
              <a:t>15-Oct-12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EB08679-E2C4-4F79-B609-268D0190EC80}" type="datetimeFigureOut">
              <a:rPr lang="en-US" smtClean="0"/>
              <a:t>15-Oct-12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7C62AE-B92E-4484-A61A-5980587E8AA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B08679-E2C4-4F79-B609-268D0190EC80}" type="datetimeFigureOut">
              <a:rPr lang="en-US" smtClean="0"/>
              <a:t>15-Oct-12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7C62AE-B92E-4484-A61A-5980587E8AA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1"/>
            <a:ext cx="7772400" cy="2209799"/>
          </a:xfrm>
        </p:spPr>
        <p:txBody>
          <a:bodyPr/>
          <a:lstStyle/>
          <a:p>
            <a:r>
              <a:rPr lang="en-US" dirty="0" smtClean="0">
                <a:solidFill>
                  <a:schemeClr val="accent5">
                    <a:lumMod val="75000"/>
                  </a:schemeClr>
                </a:solidFill>
                <a:latin typeface="Georgia" pitchFamily="18" charset="0"/>
              </a:rPr>
              <a:t>ONTOLOGY   VISUALISER</a:t>
            </a:r>
            <a:endParaRPr lang="en-US" dirty="0">
              <a:solidFill>
                <a:schemeClr val="accent5">
                  <a:lumMod val="75000"/>
                </a:schemeClr>
              </a:solidFill>
              <a:latin typeface="Georgia" pitchFamily="18" charset="0"/>
            </a:endParaRPr>
          </a:p>
        </p:txBody>
      </p:sp>
      <p:sp>
        <p:nvSpPr>
          <p:cNvPr id="3" name="Subtitle 2"/>
          <p:cNvSpPr>
            <a:spLocks noGrp="1"/>
          </p:cNvSpPr>
          <p:nvPr>
            <p:ph type="subTitle" idx="1"/>
          </p:nvPr>
        </p:nvSpPr>
        <p:spPr>
          <a:xfrm>
            <a:off x="1371600" y="2819400"/>
            <a:ext cx="6400800" cy="3124200"/>
          </a:xfrm>
        </p:spPr>
        <p:txBody>
          <a:bodyPr>
            <a:normAutofit/>
          </a:bodyPr>
          <a:lstStyle/>
          <a:p>
            <a:r>
              <a:rPr lang="en-US" sz="2400" b="1" dirty="0" smtClean="0">
                <a:solidFill>
                  <a:schemeClr val="bg1">
                    <a:lumMod val="50000"/>
                  </a:schemeClr>
                </a:solidFill>
                <a:latin typeface="Agency FB" pitchFamily="34" charset="0"/>
              </a:rPr>
              <a:t>A JAVASCRIPT BASED GRAPHING TOOL</a:t>
            </a:r>
          </a:p>
          <a:p>
            <a:endParaRPr lang="en-US" sz="2400" b="1" dirty="0">
              <a:solidFill>
                <a:schemeClr val="bg1">
                  <a:lumMod val="50000"/>
                </a:schemeClr>
              </a:solidFill>
              <a:latin typeface="Agency FB" pitchFamily="34" charset="0"/>
            </a:endParaRPr>
          </a:p>
          <a:p>
            <a:endParaRPr lang="en-US" sz="2400" b="1" dirty="0" smtClean="0">
              <a:solidFill>
                <a:schemeClr val="bg1">
                  <a:lumMod val="50000"/>
                </a:schemeClr>
              </a:solidFill>
              <a:latin typeface="Agency FB" pitchFamily="34" charset="0"/>
            </a:endParaRPr>
          </a:p>
          <a:p>
            <a:pPr>
              <a:buFontTx/>
              <a:buChar char="-"/>
            </a:pPr>
            <a:endParaRPr lang="en-US" sz="2400" b="1" dirty="0" smtClean="0">
              <a:solidFill>
                <a:schemeClr val="bg1">
                  <a:lumMod val="50000"/>
                </a:schemeClr>
              </a:solidFill>
              <a:latin typeface="Agency FB" pitchFamily="34" charset="0"/>
            </a:endParaRPr>
          </a:p>
          <a:p>
            <a:pPr>
              <a:buFontTx/>
              <a:buChar char="-"/>
            </a:pPr>
            <a:endParaRPr lang="en-US" sz="2400" b="1" dirty="0" smtClean="0">
              <a:solidFill>
                <a:schemeClr val="bg1">
                  <a:lumMod val="50000"/>
                </a:schemeClr>
              </a:solidFill>
              <a:latin typeface="Agency FB" pitchFamily="34" charset="0"/>
            </a:endParaRPr>
          </a:p>
          <a:p>
            <a:pPr>
              <a:buFontTx/>
              <a:buChar char="-"/>
            </a:pPr>
            <a:endParaRPr lang="en-US" sz="2400" b="1" dirty="0">
              <a:solidFill>
                <a:schemeClr val="bg1">
                  <a:lumMod val="50000"/>
                </a:schemeClr>
              </a:solidFill>
              <a:latin typeface="Agency FB"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Team No 15.</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pPr algn="ctr">
              <a:buNone/>
            </a:pPr>
            <a:endParaRPr lang="en-US" dirty="0">
              <a:solidFill>
                <a:schemeClr val="tx1">
                  <a:lumMod val="65000"/>
                  <a:lumOff val="35000"/>
                </a:schemeClr>
              </a:solidFill>
            </a:endParaRPr>
          </a:p>
          <a:p>
            <a:pPr algn="ctr"/>
            <a:r>
              <a:rPr lang="en-US" dirty="0" err="1" smtClean="0">
                <a:solidFill>
                  <a:schemeClr val="tx1">
                    <a:lumMod val="65000"/>
                    <a:lumOff val="35000"/>
                  </a:schemeClr>
                </a:solidFill>
              </a:rPr>
              <a:t>Piyush</a:t>
            </a:r>
            <a:r>
              <a:rPr lang="en-US" dirty="0" smtClean="0">
                <a:solidFill>
                  <a:schemeClr val="tx1">
                    <a:lumMod val="65000"/>
                    <a:lumOff val="35000"/>
                  </a:schemeClr>
                </a:solidFill>
              </a:rPr>
              <a:t> </a:t>
            </a:r>
            <a:r>
              <a:rPr lang="en-US" dirty="0" err="1" smtClean="0">
                <a:solidFill>
                  <a:schemeClr val="tx1">
                    <a:lumMod val="65000"/>
                    <a:lumOff val="35000"/>
                  </a:schemeClr>
                </a:solidFill>
              </a:rPr>
              <a:t>Bansal</a:t>
            </a:r>
            <a:endParaRPr lang="en-US" dirty="0" smtClean="0">
              <a:solidFill>
                <a:schemeClr val="tx1">
                  <a:lumMod val="65000"/>
                  <a:lumOff val="35000"/>
                </a:schemeClr>
              </a:solidFill>
            </a:endParaRPr>
          </a:p>
          <a:p>
            <a:pPr algn="ctr"/>
            <a:r>
              <a:rPr lang="en-US" dirty="0" err="1" smtClean="0">
                <a:solidFill>
                  <a:schemeClr val="tx1">
                    <a:lumMod val="65000"/>
                    <a:lumOff val="35000"/>
                  </a:schemeClr>
                </a:solidFill>
              </a:rPr>
              <a:t>Chandan</a:t>
            </a:r>
            <a:r>
              <a:rPr lang="en-US" dirty="0" smtClean="0">
                <a:solidFill>
                  <a:schemeClr val="tx1">
                    <a:lumMod val="65000"/>
                    <a:lumOff val="35000"/>
                  </a:schemeClr>
                </a:solidFill>
              </a:rPr>
              <a:t> Singh</a:t>
            </a:r>
          </a:p>
          <a:p>
            <a:pPr algn="ctr"/>
            <a:r>
              <a:rPr lang="en-US" dirty="0" err="1" smtClean="0">
                <a:solidFill>
                  <a:schemeClr val="tx1">
                    <a:lumMod val="65000"/>
                    <a:lumOff val="35000"/>
                  </a:schemeClr>
                </a:solidFill>
              </a:rPr>
              <a:t>Gv</a:t>
            </a:r>
            <a:r>
              <a:rPr lang="en-US" dirty="0" smtClean="0">
                <a:solidFill>
                  <a:schemeClr val="tx1">
                    <a:lumMod val="65000"/>
                    <a:lumOff val="35000"/>
                  </a:schemeClr>
                </a:solidFill>
              </a:rPr>
              <a:t> </a:t>
            </a:r>
            <a:r>
              <a:rPr lang="en-US" dirty="0" err="1" smtClean="0">
                <a:solidFill>
                  <a:schemeClr val="tx1">
                    <a:lumMod val="65000"/>
                    <a:lumOff val="35000"/>
                  </a:schemeClr>
                </a:solidFill>
              </a:rPr>
              <a:t>Karthik</a:t>
            </a:r>
            <a:endParaRPr lang="en-US"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a:buNone/>
            </a:pPr>
            <a:endParaRPr lang="en-US" dirty="0" smtClean="0">
              <a:solidFill>
                <a:schemeClr val="accent5">
                  <a:lumMod val="75000"/>
                </a:schemeClr>
              </a:solidFill>
            </a:endParaRPr>
          </a:p>
          <a:p>
            <a:pPr>
              <a:buNone/>
            </a:pPr>
            <a:r>
              <a:rPr lang="en-US" dirty="0">
                <a:solidFill>
                  <a:schemeClr val="accent5">
                    <a:lumMod val="75000"/>
                  </a:schemeClr>
                </a:solidFill>
              </a:rPr>
              <a:t>	</a:t>
            </a:r>
            <a:r>
              <a:rPr lang="en-US" dirty="0" smtClean="0">
                <a:solidFill>
                  <a:schemeClr val="accent5">
                    <a:lumMod val="75000"/>
                  </a:schemeClr>
                </a:solidFill>
              </a:rPr>
              <a:t>Faculty Mentors: </a:t>
            </a:r>
            <a:endParaRPr lang="en-US" dirty="0">
              <a:solidFill>
                <a:schemeClr val="accent5">
                  <a:lumMod val="75000"/>
                </a:schemeClr>
              </a:solidFill>
            </a:endParaRPr>
          </a:p>
          <a:p>
            <a:pPr>
              <a:buNone/>
            </a:pPr>
            <a:r>
              <a:rPr lang="en-US" dirty="0" smtClean="0"/>
              <a:t> 	</a:t>
            </a:r>
            <a:r>
              <a:rPr lang="en-US" dirty="0" smtClean="0">
                <a:solidFill>
                  <a:schemeClr val="tx1">
                    <a:lumMod val="65000"/>
                    <a:lumOff val="35000"/>
                  </a:schemeClr>
                </a:solidFill>
              </a:rPr>
              <a:t>	- Prof. </a:t>
            </a:r>
            <a:r>
              <a:rPr lang="en-US" dirty="0" err="1" smtClean="0">
                <a:solidFill>
                  <a:schemeClr val="tx1">
                    <a:lumMod val="65000"/>
                    <a:lumOff val="35000"/>
                  </a:schemeClr>
                </a:solidFill>
              </a:rPr>
              <a:t>Navjyoti</a:t>
            </a:r>
            <a:r>
              <a:rPr lang="en-US" dirty="0" smtClean="0">
                <a:solidFill>
                  <a:schemeClr val="tx1">
                    <a:lumMod val="65000"/>
                    <a:lumOff val="35000"/>
                  </a:schemeClr>
                </a:solidFill>
              </a:rPr>
              <a:t> Singh</a:t>
            </a:r>
          </a:p>
          <a:p>
            <a:pPr>
              <a:buNone/>
            </a:pPr>
            <a:r>
              <a:rPr lang="en-US" dirty="0">
                <a:solidFill>
                  <a:schemeClr val="tx1">
                    <a:lumMod val="65000"/>
                    <a:lumOff val="35000"/>
                  </a:schemeClr>
                </a:solidFill>
              </a:rPr>
              <a:t>	</a:t>
            </a:r>
            <a:r>
              <a:rPr lang="en-US" dirty="0" smtClean="0">
                <a:solidFill>
                  <a:schemeClr val="tx1">
                    <a:lumMod val="65000"/>
                    <a:lumOff val="35000"/>
                  </a:schemeClr>
                </a:solidFill>
              </a:rPr>
              <a:t>	- Rajesh </a:t>
            </a:r>
            <a:r>
              <a:rPr lang="en-US" dirty="0" err="1" smtClean="0">
                <a:solidFill>
                  <a:schemeClr val="tx1">
                    <a:lumMod val="65000"/>
                    <a:lumOff val="35000"/>
                  </a:schemeClr>
                </a:solidFill>
              </a:rPr>
              <a:t>Tavva</a:t>
            </a:r>
            <a:endParaRPr lang="en-US" dirty="0" smtClean="0">
              <a:solidFill>
                <a:schemeClr val="tx1">
                  <a:lumMod val="65000"/>
                  <a:lumOff val="35000"/>
                </a:schemeClr>
              </a:solidFill>
            </a:endParaRPr>
          </a:p>
          <a:p>
            <a:pPr>
              <a:buNone/>
            </a:pPr>
            <a:endParaRPr lang="en-US" dirty="0"/>
          </a:p>
          <a:p>
            <a:pPr>
              <a:buNone/>
            </a:pPr>
            <a:r>
              <a:rPr lang="en-US" dirty="0" smtClean="0">
                <a:solidFill>
                  <a:schemeClr val="accent5">
                    <a:lumMod val="75000"/>
                  </a:schemeClr>
                </a:solidFill>
              </a:rPr>
              <a:t>	TA Mentor:</a:t>
            </a:r>
          </a:p>
          <a:p>
            <a:pPr>
              <a:buNone/>
            </a:pPr>
            <a:r>
              <a:rPr lang="en-US" dirty="0"/>
              <a:t>	</a:t>
            </a:r>
            <a:r>
              <a:rPr lang="en-US" dirty="0" smtClean="0">
                <a:solidFill>
                  <a:schemeClr val="tx1">
                    <a:lumMod val="65000"/>
                    <a:lumOff val="35000"/>
                  </a:schemeClr>
                </a:solidFill>
              </a:rPr>
              <a:t>	- </a:t>
            </a:r>
            <a:r>
              <a:rPr lang="en-US" dirty="0" err="1" smtClean="0">
                <a:solidFill>
                  <a:schemeClr val="tx1">
                    <a:lumMod val="65000"/>
                    <a:lumOff val="35000"/>
                  </a:schemeClr>
                </a:solidFill>
              </a:rPr>
              <a:t>Aravinda</a:t>
            </a:r>
            <a:r>
              <a:rPr lang="en-US" dirty="0" smtClean="0">
                <a:solidFill>
                  <a:schemeClr val="tx1">
                    <a:lumMod val="65000"/>
                    <a:lumOff val="35000"/>
                  </a:schemeClr>
                </a:solidFill>
              </a:rPr>
              <a:t> </a:t>
            </a:r>
            <a:r>
              <a:rPr lang="en-US" dirty="0" err="1" smtClean="0">
                <a:solidFill>
                  <a:schemeClr val="tx1">
                    <a:lumMod val="65000"/>
                    <a:lumOff val="35000"/>
                  </a:schemeClr>
                </a:solidFill>
              </a:rPr>
              <a:t>Mantravadi</a:t>
            </a:r>
            <a:endParaRPr lang="en-US" dirty="0" smtClean="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The Problem Statement</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r>
              <a:rPr lang="en-US" dirty="0" smtClean="0">
                <a:solidFill>
                  <a:schemeClr val="tx1">
                    <a:lumMod val="65000"/>
                    <a:lumOff val="35000"/>
                  </a:schemeClr>
                </a:solidFill>
              </a:rPr>
              <a:t>An easy to use, efficient tool to </a:t>
            </a:r>
            <a:r>
              <a:rPr lang="en-US" dirty="0" err="1" smtClean="0">
                <a:solidFill>
                  <a:schemeClr val="tx1">
                    <a:lumMod val="65000"/>
                    <a:lumOff val="35000"/>
                  </a:schemeClr>
                </a:solidFill>
              </a:rPr>
              <a:t>visualise</a:t>
            </a:r>
            <a:r>
              <a:rPr lang="en-US" dirty="0" smtClean="0">
                <a:solidFill>
                  <a:schemeClr val="tx1">
                    <a:lumMod val="65000"/>
                    <a:lumOff val="35000"/>
                  </a:schemeClr>
                </a:solidFill>
              </a:rPr>
              <a:t> and manipulate graphs.</a:t>
            </a:r>
          </a:p>
          <a:p>
            <a:pPr>
              <a:buNone/>
            </a:pPr>
            <a:endParaRPr lang="en-US" dirty="0">
              <a:solidFill>
                <a:schemeClr val="tx1">
                  <a:lumMod val="65000"/>
                  <a:lumOff val="35000"/>
                </a:schemeClr>
              </a:solidFill>
            </a:endParaRPr>
          </a:p>
          <a:p>
            <a:r>
              <a:rPr lang="en-US" dirty="0" smtClean="0">
                <a:solidFill>
                  <a:schemeClr val="tx1">
                    <a:lumMod val="65000"/>
                    <a:lumOff val="35000"/>
                  </a:schemeClr>
                </a:solidFill>
              </a:rPr>
              <a:t>Graphs are to be laid out by some force based layout algorithm, so that user doesn’t have to worry about relative position of edges and nodes in space. </a:t>
            </a:r>
            <a:endParaRPr lang="en-US"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The Problem Statement</a:t>
            </a:r>
            <a:endParaRPr lang="en-US" dirty="0">
              <a:solidFill>
                <a:schemeClr val="accent5">
                  <a:lumMod val="75000"/>
                </a:schemeClr>
              </a:solidFill>
            </a:endParaRPr>
          </a:p>
        </p:txBody>
      </p:sp>
      <p:sp>
        <p:nvSpPr>
          <p:cNvPr id="3" name="Content Placeholder 2"/>
          <p:cNvSpPr>
            <a:spLocks noGrp="1"/>
          </p:cNvSpPr>
          <p:nvPr>
            <p:ph idx="1"/>
          </p:nvPr>
        </p:nvSpPr>
        <p:spPr/>
        <p:txBody>
          <a:bodyPr>
            <a:normAutofit lnSpcReduction="10000"/>
          </a:bodyPr>
          <a:lstStyle/>
          <a:p>
            <a:r>
              <a:rPr lang="en-US" dirty="0" smtClean="0">
                <a:solidFill>
                  <a:schemeClr val="tx1">
                    <a:lumMod val="65000"/>
                    <a:lumOff val="35000"/>
                  </a:schemeClr>
                </a:solidFill>
              </a:rPr>
              <a:t>The tool is to be used to study Graph Generative Grammars. i.e. the functionalities would include ‘being able to replace a subgraph by some other graph based on user-defined graph grammar rules’.</a:t>
            </a:r>
          </a:p>
          <a:p>
            <a:pPr>
              <a:buNone/>
            </a:pPr>
            <a:endParaRPr lang="en-US" dirty="0" smtClean="0">
              <a:solidFill>
                <a:schemeClr val="tx1">
                  <a:lumMod val="65000"/>
                  <a:lumOff val="35000"/>
                </a:schemeClr>
              </a:solidFill>
            </a:endParaRPr>
          </a:p>
          <a:p>
            <a:r>
              <a:rPr lang="en-US" dirty="0" smtClean="0">
                <a:solidFill>
                  <a:schemeClr val="tx1">
                    <a:lumMod val="65000"/>
                    <a:lumOff val="35000"/>
                  </a:schemeClr>
                </a:solidFill>
              </a:rPr>
              <a:t>This would enable the user to study interrelationships between different entities, as related to Ontology of those entities.</a:t>
            </a:r>
            <a:endParaRPr lang="en-US"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Proposed Solution</a:t>
            </a:r>
            <a:endParaRPr lang="en-US" dirty="0">
              <a:solidFill>
                <a:schemeClr val="accent5">
                  <a:lumMod val="75000"/>
                </a:schemeClr>
              </a:solidFill>
            </a:endParaRPr>
          </a:p>
        </p:txBody>
      </p:sp>
      <p:sp>
        <p:nvSpPr>
          <p:cNvPr id="3" name="Content Placeholder 2"/>
          <p:cNvSpPr>
            <a:spLocks noGrp="1"/>
          </p:cNvSpPr>
          <p:nvPr>
            <p:ph idx="1"/>
          </p:nvPr>
        </p:nvSpPr>
        <p:spPr/>
        <p:txBody>
          <a:bodyPr>
            <a:normAutofit lnSpcReduction="10000"/>
          </a:bodyPr>
          <a:lstStyle/>
          <a:p>
            <a:r>
              <a:rPr lang="en-US" dirty="0" smtClean="0">
                <a:solidFill>
                  <a:schemeClr val="tx1">
                    <a:lumMod val="65000"/>
                    <a:lumOff val="35000"/>
                  </a:schemeClr>
                </a:solidFill>
              </a:rPr>
              <a:t> The nodes and edges need to be modeled as physical entities wherein nodes could be modeled as charged particles and edges as springs. This would ensure optimal arrangement of graph in space.</a:t>
            </a:r>
          </a:p>
          <a:p>
            <a:pPr>
              <a:buNone/>
            </a:pPr>
            <a:endParaRPr lang="en-US" dirty="0">
              <a:solidFill>
                <a:schemeClr val="tx1">
                  <a:lumMod val="65000"/>
                  <a:lumOff val="35000"/>
                </a:schemeClr>
              </a:solidFill>
            </a:endParaRPr>
          </a:p>
          <a:p>
            <a:r>
              <a:rPr lang="en-US" dirty="0" smtClean="0">
                <a:solidFill>
                  <a:schemeClr val="tx1">
                    <a:lumMod val="65000"/>
                    <a:lumOff val="35000"/>
                  </a:schemeClr>
                </a:solidFill>
              </a:rPr>
              <a:t>The user should be able to control color etc. of entities so as to associate relative meanings to them.</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Start from scratch??</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r>
              <a:rPr lang="en-US" dirty="0" smtClean="0">
                <a:solidFill>
                  <a:schemeClr val="tx1">
                    <a:lumMod val="65000"/>
                    <a:lumOff val="35000"/>
                  </a:schemeClr>
                </a:solidFill>
              </a:rPr>
              <a:t>Absolutely not.</a:t>
            </a:r>
            <a:endParaRPr lang="en-US" dirty="0">
              <a:solidFill>
                <a:schemeClr val="tx1">
                  <a:lumMod val="65000"/>
                  <a:lumOff val="35000"/>
                </a:schemeClr>
              </a:solidFill>
            </a:endParaRPr>
          </a:p>
          <a:p>
            <a:r>
              <a:rPr lang="en-US" dirty="0" smtClean="0">
                <a:solidFill>
                  <a:schemeClr val="tx1">
                    <a:lumMod val="65000"/>
                    <a:lumOff val="35000"/>
                  </a:schemeClr>
                </a:solidFill>
              </a:rPr>
              <a:t>The process of rendering the graph by a force based layout algorithm is not easy.</a:t>
            </a:r>
          </a:p>
          <a:p>
            <a:r>
              <a:rPr lang="en-US" dirty="0" smtClean="0">
                <a:solidFill>
                  <a:schemeClr val="tx1">
                    <a:lumMod val="65000"/>
                    <a:lumOff val="35000"/>
                  </a:schemeClr>
                </a:solidFill>
              </a:rPr>
              <a:t> Various libraries provide support for the same.</a:t>
            </a:r>
            <a:r>
              <a:rPr lang="en-US" dirty="0">
                <a:solidFill>
                  <a:schemeClr val="tx1">
                    <a:lumMod val="65000"/>
                    <a:lumOff val="35000"/>
                  </a:schemeClr>
                </a:solidFill>
              </a:rPr>
              <a:t> </a:t>
            </a:r>
            <a:r>
              <a:rPr lang="en-US" dirty="0" smtClean="0">
                <a:solidFill>
                  <a:schemeClr val="tx1">
                    <a:lumMod val="65000"/>
                    <a:lumOff val="35000"/>
                  </a:schemeClr>
                </a:solidFill>
              </a:rPr>
              <a:t>We decided to work with </a:t>
            </a:r>
            <a:r>
              <a:rPr lang="en-US" u="sng" dirty="0" smtClean="0">
                <a:solidFill>
                  <a:schemeClr val="tx1">
                    <a:lumMod val="65000"/>
                    <a:lumOff val="35000"/>
                  </a:schemeClr>
                </a:solidFill>
              </a:rPr>
              <a:t>D3(Data Driven Documents)</a:t>
            </a:r>
            <a:r>
              <a:rPr lang="en-US" dirty="0" smtClean="0">
                <a:solidFill>
                  <a:schemeClr val="tx1">
                    <a:lumMod val="65000"/>
                    <a:lumOff val="35000"/>
                  </a:schemeClr>
                </a:solidFill>
              </a:rPr>
              <a:t> library of </a:t>
            </a:r>
            <a:r>
              <a:rPr lang="en-US" dirty="0" err="1" smtClean="0">
                <a:solidFill>
                  <a:schemeClr val="tx1">
                    <a:lumMod val="65000"/>
                    <a:lumOff val="35000"/>
                  </a:schemeClr>
                </a:solidFill>
              </a:rPr>
              <a:t>javascript</a:t>
            </a:r>
            <a:r>
              <a:rPr lang="en-US" dirty="0" smtClean="0">
                <a:solidFill>
                  <a:schemeClr val="tx1">
                    <a:lumMod val="65000"/>
                    <a:lumOff val="35000"/>
                  </a:schemeClr>
                </a:solidFill>
              </a:rPr>
              <a:t>.</a:t>
            </a:r>
          </a:p>
          <a:p>
            <a:endParaRPr lang="en-US"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Why D3??</a:t>
            </a:r>
            <a:endParaRPr lang="en-US" dirty="0">
              <a:solidFill>
                <a:schemeClr val="accent5">
                  <a:lumMod val="75000"/>
                </a:schemeClr>
              </a:solidFill>
            </a:endParaRPr>
          </a:p>
        </p:txBody>
      </p:sp>
      <p:sp>
        <p:nvSpPr>
          <p:cNvPr id="3" name="Content Placeholder 2"/>
          <p:cNvSpPr>
            <a:spLocks noGrp="1"/>
          </p:cNvSpPr>
          <p:nvPr>
            <p:ph idx="1"/>
          </p:nvPr>
        </p:nvSpPr>
        <p:spPr>
          <a:xfrm>
            <a:off x="457200" y="1447800"/>
            <a:ext cx="8229600" cy="4953000"/>
          </a:xfrm>
        </p:spPr>
        <p:txBody>
          <a:bodyPr>
            <a:normAutofit/>
          </a:bodyPr>
          <a:lstStyle/>
          <a:p>
            <a:r>
              <a:rPr lang="en-US" dirty="0" smtClean="0">
                <a:solidFill>
                  <a:schemeClr val="tx1">
                    <a:lumMod val="65000"/>
                    <a:lumOff val="35000"/>
                  </a:schemeClr>
                </a:solidFill>
              </a:rPr>
              <a:t>Written in pure </a:t>
            </a:r>
            <a:r>
              <a:rPr lang="en-US" dirty="0" err="1" smtClean="0">
                <a:solidFill>
                  <a:schemeClr val="tx1">
                    <a:lumMod val="65000"/>
                    <a:lumOff val="35000"/>
                  </a:schemeClr>
                </a:solidFill>
              </a:rPr>
              <a:t>javascript</a:t>
            </a:r>
            <a:r>
              <a:rPr lang="en-US" dirty="0" smtClean="0">
                <a:solidFill>
                  <a:schemeClr val="tx1">
                    <a:lumMod val="65000"/>
                    <a:lumOff val="35000"/>
                  </a:schemeClr>
                </a:solidFill>
              </a:rPr>
              <a:t> , hence could be used as an offline web based application.</a:t>
            </a:r>
          </a:p>
          <a:p>
            <a:r>
              <a:rPr lang="en-US" dirty="0" smtClean="0">
                <a:solidFill>
                  <a:schemeClr val="tx1">
                    <a:lumMod val="65000"/>
                    <a:lumOff val="35000"/>
                  </a:schemeClr>
                </a:solidFill>
              </a:rPr>
              <a:t>We wont have to worry about application platform(all modern browsers have extensive support for </a:t>
            </a:r>
            <a:r>
              <a:rPr lang="en-US" dirty="0" err="1" smtClean="0">
                <a:solidFill>
                  <a:schemeClr val="tx1">
                    <a:lumMod val="65000"/>
                    <a:lumOff val="35000"/>
                  </a:schemeClr>
                </a:solidFill>
              </a:rPr>
              <a:t>javascript</a:t>
            </a:r>
            <a:r>
              <a:rPr lang="en-US" dirty="0" smtClean="0">
                <a:solidFill>
                  <a:schemeClr val="tx1">
                    <a:lumMod val="65000"/>
                    <a:lumOff val="35000"/>
                  </a:schemeClr>
                </a:solidFill>
              </a:rPr>
              <a:t>) . </a:t>
            </a:r>
          </a:p>
          <a:p>
            <a:r>
              <a:rPr lang="en-US" dirty="0" smtClean="0">
                <a:solidFill>
                  <a:schemeClr val="tx1">
                    <a:lumMod val="65000"/>
                    <a:lumOff val="35000"/>
                  </a:schemeClr>
                </a:solidFill>
              </a:rPr>
              <a:t>D3 uses SVG for rendering which is faster than drawing HTML canvas object and then specifying pixels on the grid(as in processing.js library).</a:t>
            </a:r>
            <a:endParaRPr lang="en-US"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Technologies used</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r>
              <a:rPr lang="en-US" dirty="0" smtClean="0">
                <a:solidFill>
                  <a:schemeClr val="tx1">
                    <a:lumMod val="65000"/>
                    <a:lumOff val="35000"/>
                  </a:schemeClr>
                </a:solidFill>
              </a:rPr>
              <a:t>HTML/CSS for providing basic framework </a:t>
            </a:r>
          </a:p>
          <a:p>
            <a:r>
              <a:rPr lang="en-US" dirty="0" smtClean="0">
                <a:solidFill>
                  <a:schemeClr val="tx1">
                    <a:lumMod val="65000"/>
                    <a:lumOff val="35000"/>
                  </a:schemeClr>
                </a:solidFill>
              </a:rPr>
              <a:t>JavaScript for processing the spatial arrangement of nodes/edges </a:t>
            </a:r>
          </a:p>
          <a:p>
            <a:r>
              <a:rPr lang="en-US" dirty="0" smtClean="0">
                <a:solidFill>
                  <a:schemeClr val="tx1">
                    <a:lumMod val="65000"/>
                    <a:lumOff val="35000"/>
                  </a:schemeClr>
                </a:solidFill>
              </a:rPr>
              <a:t>PHP for server-side scripting to manipulate database.</a:t>
            </a:r>
            <a:endParaRPr lang="en-US" dirty="0">
              <a:solidFill>
                <a:schemeClr val="tx1">
                  <a:lumMod val="65000"/>
                  <a:lumOff val="35000"/>
                </a:schemeClr>
              </a:solidFill>
            </a:endParaRPr>
          </a:p>
          <a:p>
            <a:r>
              <a:rPr lang="en-US" dirty="0" smtClean="0">
                <a:solidFill>
                  <a:schemeClr val="tx1">
                    <a:lumMod val="65000"/>
                    <a:lumOff val="35000"/>
                  </a:schemeClr>
                </a:solidFill>
              </a:rPr>
              <a:t>JSON based document oriented database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Progress till date	</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pPr>
              <a:buNone/>
            </a:pPr>
            <a:endParaRPr lang="en-US" dirty="0" smtClean="0">
              <a:solidFill>
                <a:schemeClr val="tx1">
                  <a:lumMod val="65000"/>
                  <a:lumOff val="35000"/>
                </a:schemeClr>
              </a:solidFill>
            </a:endParaRPr>
          </a:p>
          <a:p>
            <a:pPr>
              <a:buNone/>
            </a:pPr>
            <a:r>
              <a:rPr lang="en-US" dirty="0" smtClean="0">
                <a:solidFill>
                  <a:schemeClr val="tx1">
                    <a:lumMod val="65000"/>
                    <a:lumOff val="35000"/>
                  </a:schemeClr>
                </a:solidFill>
              </a:rPr>
              <a:t>Functionalities provided in R1:</a:t>
            </a:r>
          </a:p>
          <a:p>
            <a:pPr>
              <a:buNone/>
            </a:pPr>
            <a:r>
              <a:rPr lang="en-US" dirty="0">
                <a:solidFill>
                  <a:schemeClr val="tx1">
                    <a:lumMod val="65000"/>
                    <a:lumOff val="35000"/>
                  </a:schemeClr>
                </a:solidFill>
              </a:rPr>
              <a:t>	</a:t>
            </a:r>
            <a:r>
              <a:rPr lang="en-US" dirty="0" smtClean="0">
                <a:solidFill>
                  <a:schemeClr val="tx1">
                    <a:lumMod val="65000"/>
                    <a:lumOff val="35000"/>
                  </a:schemeClr>
                </a:solidFill>
              </a:rPr>
              <a:t>-	Add/Modify/Delete a node</a:t>
            </a:r>
          </a:p>
          <a:p>
            <a:pPr>
              <a:buNone/>
            </a:pPr>
            <a:r>
              <a:rPr lang="en-US" dirty="0">
                <a:solidFill>
                  <a:schemeClr val="tx1">
                    <a:lumMod val="65000"/>
                    <a:lumOff val="35000"/>
                  </a:schemeClr>
                </a:solidFill>
              </a:rPr>
              <a:t>	</a:t>
            </a:r>
            <a:r>
              <a:rPr lang="en-US" dirty="0" smtClean="0">
                <a:solidFill>
                  <a:schemeClr val="tx1">
                    <a:lumMod val="65000"/>
                    <a:lumOff val="35000"/>
                  </a:schemeClr>
                </a:solidFill>
              </a:rPr>
              <a:t>- 	Add/Delete an edge</a:t>
            </a:r>
          </a:p>
          <a:p>
            <a:pPr>
              <a:buNone/>
            </a:pPr>
            <a:r>
              <a:rPr lang="en-US" dirty="0">
                <a:solidFill>
                  <a:schemeClr val="tx1">
                    <a:lumMod val="65000"/>
                    <a:lumOff val="35000"/>
                  </a:schemeClr>
                </a:solidFill>
              </a:rPr>
              <a:t>	</a:t>
            </a:r>
            <a:r>
              <a:rPr lang="en-US" dirty="0" smtClean="0">
                <a:solidFill>
                  <a:schemeClr val="tx1">
                    <a:lumMod val="65000"/>
                    <a:lumOff val="35000"/>
                  </a:schemeClr>
                </a:solidFill>
              </a:rPr>
              <a:t>- 	Load/Save graphs</a:t>
            </a:r>
            <a:endParaRPr lang="en-US"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Implementation	 Issues</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r>
              <a:rPr lang="en-US" dirty="0" smtClean="0">
                <a:solidFill>
                  <a:schemeClr val="tx1">
                    <a:lumMod val="65000"/>
                    <a:lumOff val="35000"/>
                  </a:schemeClr>
                </a:solidFill>
              </a:rPr>
              <a:t>We needed a lightweight database.</a:t>
            </a:r>
          </a:p>
          <a:p>
            <a:r>
              <a:rPr lang="en-US" dirty="0" smtClean="0">
                <a:solidFill>
                  <a:schemeClr val="tx1">
                    <a:lumMod val="65000"/>
                    <a:lumOff val="35000"/>
                  </a:schemeClr>
                </a:solidFill>
              </a:rPr>
              <a:t>Since graphs have some inherent structuring some options available to us were XML, JSON etc. </a:t>
            </a:r>
            <a:endParaRPr lang="en-US" dirty="0">
              <a:solidFill>
                <a:schemeClr val="tx1">
                  <a:lumMod val="65000"/>
                  <a:lumOff val="35000"/>
                </a:schemeClr>
              </a:solidFill>
            </a:endParaRPr>
          </a:p>
          <a:p>
            <a:r>
              <a:rPr lang="en-US" dirty="0" smtClean="0">
                <a:solidFill>
                  <a:schemeClr val="tx1">
                    <a:lumMod val="65000"/>
                    <a:lumOff val="35000"/>
                  </a:schemeClr>
                </a:solidFill>
              </a:rPr>
              <a:t>D3 provides better support for JSON, so opted for it.</a:t>
            </a:r>
            <a:endParaRPr lang="en-US"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Implementation Issues</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r>
              <a:rPr lang="en-US" dirty="0" smtClean="0">
                <a:solidFill>
                  <a:schemeClr val="tx1">
                    <a:lumMod val="65000"/>
                    <a:lumOff val="35000"/>
                  </a:schemeClr>
                </a:solidFill>
              </a:rPr>
              <a:t>Difficult to come up with an intuitive interface that, being simple to use also provides maximal functionalities.</a:t>
            </a:r>
          </a:p>
          <a:p>
            <a:r>
              <a:rPr lang="en-US" dirty="0" smtClean="0">
                <a:solidFill>
                  <a:schemeClr val="tx1">
                    <a:lumMod val="65000"/>
                    <a:lumOff val="35000"/>
                  </a:schemeClr>
                </a:solidFill>
              </a:rPr>
              <a:t>We </a:t>
            </a:r>
            <a:r>
              <a:rPr lang="en-US" dirty="0" err="1" smtClean="0">
                <a:solidFill>
                  <a:schemeClr val="tx1">
                    <a:lumMod val="65000"/>
                    <a:lumOff val="35000"/>
                  </a:schemeClr>
                </a:solidFill>
              </a:rPr>
              <a:t>realise</a:t>
            </a:r>
            <a:r>
              <a:rPr lang="en-US" dirty="0" smtClean="0">
                <a:solidFill>
                  <a:schemeClr val="tx1">
                    <a:lumMod val="65000"/>
                    <a:lumOff val="35000"/>
                  </a:schemeClr>
                </a:solidFill>
              </a:rPr>
              <a:t> that the interface still needs some more work . We are working on it.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Future goals</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r>
              <a:rPr lang="en-US" dirty="0" smtClean="0">
                <a:solidFill>
                  <a:schemeClr val="tx1">
                    <a:lumMod val="65000"/>
                    <a:lumOff val="35000"/>
                  </a:schemeClr>
                </a:solidFill>
              </a:rPr>
              <a:t>Improve interface so that user can perform operations on graph by click events.</a:t>
            </a:r>
            <a:endParaRPr lang="en-US" dirty="0">
              <a:solidFill>
                <a:schemeClr val="tx1">
                  <a:lumMod val="65000"/>
                  <a:lumOff val="35000"/>
                </a:schemeClr>
              </a:solidFill>
            </a:endParaRPr>
          </a:p>
          <a:p>
            <a:pPr>
              <a:buNone/>
            </a:pPr>
            <a:r>
              <a:rPr lang="en-US" sz="2000" dirty="0" smtClean="0">
                <a:solidFill>
                  <a:schemeClr val="tx1">
                    <a:lumMod val="65000"/>
                    <a:lumOff val="35000"/>
                  </a:schemeClr>
                </a:solidFill>
              </a:rPr>
              <a:t>	[A basic prototype is ready]</a:t>
            </a:r>
          </a:p>
          <a:p>
            <a:pPr>
              <a:buNone/>
            </a:pPr>
            <a:endParaRPr lang="en-US" sz="2000" dirty="0" smtClean="0">
              <a:solidFill>
                <a:schemeClr val="tx1">
                  <a:lumMod val="65000"/>
                  <a:lumOff val="35000"/>
                </a:schemeClr>
              </a:solidFill>
            </a:endParaRPr>
          </a:p>
          <a:p>
            <a:r>
              <a:rPr lang="en-US" dirty="0" smtClean="0">
                <a:solidFill>
                  <a:schemeClr val="tx1">
                    <a:lumMod val="65000"/>
                    <a:lumOff val="35000"/>
                  </a:schemeClr>
                </a:solidFill>
              </a:rPr>
              <a:t>To improvise our design such that graph is not reloaded every time it is modified.</a:t>
            </a:r>
          </a:p>
          <a:p>
            <a:pPr>
              <a:buNone/>
            </a:pPr>
            <a:r>
              <a:rPr lang="en-US" sz="2000" dirty="0" smtClean="0">
                <a:solidFill>
                  <a:schemeClr val="tx1">
                    <a:lumMod val="65000"/>
                    <a:lumOff val="35000"/>
                  </a:schemeClr>
                </a:solidFill>
              </a:rPr>
              <a:t>	[Instead of modifying database </a:t>
            </a:r>
            <a:r>
              <a:rPr lang="en-US" sz="2000" dirty="0" err="1" smtClean="0">
                <a:solidFill>
                  <a:schemeClr val="tx1">
                    <a:lumMod val="65000"/>
                    <a:lumOff val="35000"/>
                  </a:schemeClr>
                </a:solidFill>
              </a:rPr>
              <a:t>everytime</a:t>
            </a:r>
            <a:r>
              <a:rPr lang="en-US" sz="2000" dirty="0" smtClean="0">
                <a:solidFill>
                  <a:schemeClr val="tx1">
                    <a:lumMod val="65000"/>
                    <a:lumOff val="35000"/>
                  </a:schemeClr>
                </a:solidFill>
              </a:rPr>
              <a:t>, we would store the changes in variables and modify database only at the end]</a:t>
            </a:r>
          </a:p>
          <a:p>
            <a:endParaRPr lang="en-US" dirty="0">
              <a:solidFill>
                <a:schemeClr val="tx1">
                  <a:lumMod val="65000"/>
                  <a:lumOff val="35000"/>
                </a:schemeClr>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5">
                    <a:lumMod val="75000"/>
                  </a:schemeClr>
                </a:solidFill>
              </a:rPr>
              <a:t>Future goals</a:t>
            </a:r>
            <a:endParaRPr lang="en-US" dirty="0">
              <a:solidFill>
                <a:schemeClr val="accent5">
                  <a:lumMod val="75000"/>
                </a:schemeClr>
              </a:solidFill>
            </a:endParaRPr>
          </a:p>
        </p:txBody>
      </p:sp>
      <p:sp>
        <p:nvSpPr>
          <p:cNvPr id="3" name="Content Placeholder 2"/>
          <p:cNvSpPr>
            <a:spLocks noGrp="1"/>
          </p:cNvSpPr>
          <p:nvPr>
            <p:ph idx="1"/>
          </p:nvPr>
        </p:nvSpPr>
        <p:spPr/>
        <p:txBody>
          <a:bodyPr/>
          <a:lstStyle/>
          <a:p>
            <a:pPr>
              <a:buNone/>
            </a:pPr>
            <a:endParaRPr lang="en-US" dirty="0" smtClean="0">
              <a:solidFill>
                <a:schemeClr val="tx1">
                  <a:lumMod val="65000"/>
                  <a:lumOff val="35000"/>
                </a:schemeClr>
              </a:solidFill>
            </a:endParaRPr>
          </a:p>
          <a:p>
            <a:r>
              <a:rPr lang="en-US" dirty="0" smtClean="0">
                <a:solidFill>
                  <a:schemeClr val="tx1">
                    <a:lumMod val="65000"/>
                    <a:lumOff val="35000"/>
                  </a:schemeClr>
                </a:solidFill>
              </a:rPr>
              <a:t>To come up with essential design to implement graph generative grammars, i.e. user would specify some rules according to which the graph should grow.</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lgn="ctr">
              <a:buNone/>
            </a:pPr>
            <a:endParaRPr lang="en-US" sz="4800" dirty="0" smtClean="0">
              <a:solidFill>
                <a:schemeClr val="accent5">
                  <a:lumMod val="75000"/>
                </a:schemeClr>
              </a:solidFill>
            </a:endParaRPr>
          </a:p>
          <a:p>
            <a:pPr algn="ctr">
              <a:buNone/>
            </a:pPr>
            <a:endParaRPr lang="en-US" sz="4800" dirty="0">
              <a:solidFill>
                <a:schemeClr val="accent5">
                  <a:lumMod val="75000"/>
                </a:schemeClr>
              </a:solidFill>
            </a:endParaRPr>
          </a:p>
          <a:p>
            <a:pPr algn="ctr">
              <a:buNone/>
            </a:pPr>
            <a:r>
              <a:rPr lang="en-US" sz="4800" dirty="0" smtClean="0">
                <a:solidFill>
                  <a:schemeClr val="accent5">
                    <a:lumMod val="75000"/>
                  </a:schemeClr>
                </a:solidFill>
              </a:rPr>
              <a:t>Thank you!!</a:t>
            </a:r>
            <a:endParaRPr lang="en-US" sz="4800" dirty="0">
              <a:solidFill>
                <a:schemeClr val="accent5">
                  <a:lumMod val="75000"/>
                </a:schemeClr>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117</TotalTime>
  <Words>443</Words>
  <Application>Microsoft Office PowerPoint</Application>
  <PresentationFormat>On-screen Show (4:3)</PresentationFormat>
  <Paragraphs>67</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ONTOLOGY   VISUALISER</vt:lpstr>
      <vt:lpstr>Team No 15.</vt:lpstr>
      <vt:lpstr>Slide 3</vt:lpstr>
      <vt:lpstr>The Problem Statement</vt:lpstr>
      <vt:lpstr>The Problem Statement</vt:lpstr>
      <vt:lpstr>Proposed Solution</vt:lpstr>
      <vt:lpstr>Start from scratch??</vt:lpstr>
      <vt:lpstr>Why D3??</vt:lpstr>
      <vt:lpstr>Technologies used</vt:lpstr>
      <vt:lpstr>Progress till date </vt:lpstr>
      <vt:lpstr>Implementation  Issues</vt:lpstr>
      <vt:lpstr>Implementation Issues</vt:lpstr>
      <vt:lpstr>Future goals</vt:lpstr>
      <vt:lpstr>Future goals</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ONTOLOGY   VISUALISER</dc:title>
  <dc:creator>Server</dc:creator>
  <cp:lastModifiedBy>Server</cp:lastModifiedBy>
  <cp:revision>26</cp:revision>
  <dcterms:created xsi:type="dcterms:W3CDTF">2012-10-15T18:15:35Z</dcterms:created>
  <dcterms:modified xsi:type="dcterms:W3CDTF">2012-10-15T20:13:12Z</dcterms:modified>
</cp:coreProperties>
</file>